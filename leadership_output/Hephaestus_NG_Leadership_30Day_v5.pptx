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Hephaestus NG — 30-Day Dashboard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March 10 – April 9, 2026  |  East US 2 &amp; Sweden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029200" cy="3474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</a:defRPr>
            </a:pPr>
            <a:r>
              <a:t>AskAI Service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Manager:  Nupur Kinger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CCCCCC"/>
                </a:solidFill>
              </a:defRPr>
            </a:pPr>
            <a:r>
              <a:t>Team Members: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Amit Chauhan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Mohammed Sheraj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Kshitij Chawla</a:t>
            </a:r>
          </a:p>
          <a:p>
            <a:pPr algn="l">
              <a:defRPr sz="1300">
                <a:solidFill>
                  <a:srgbClr val="CCCCCC"/>
                </a:solidFill>
              </a:defRPr>
            </a:pPr>
            <a:r>
              <a:t>  •  Ayushh Garg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📊  In This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CCCCC"/>
                </a:solidFill>
              </a:defRPr>
            </a:pPr>
            <a:r>
              <a:t>•  Request Volume &amp; Trends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User Adoption &amp; Engagement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SLO Performance (Success Rate &amp; Latency)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V2 → NG Migration Status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•  Key Takeaways &amp;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Metrics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05840"/>
            <a:ext cx="228600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91,371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Total NG Requests (30d)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05840"/>
            <a:ext cx="228600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11556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15,453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Unique Users (30d)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005840"/>
            <a:ext cx="228600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11556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~700/day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Avg Weekday DAU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005840"/>
            <a:ext cx="201168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1155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83% / 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EUS2 / Sweden Central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1005840"/>
            <a:ext cx="201168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1155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99999"/>
                </a:solidFill>
              </a:defRPr>
            </a:pPr>
            <a:r>
              <a:t>1,319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Requests (30d)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77440"/>
            <a:ext cx="283464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8716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96.8%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V1 Avg Success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377440"/>
            <a:ext cx="283464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48716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94.8%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Avg Success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377440"/>
            <a:ext cx="283464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48716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96.5%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Per-Region Weighted SR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283464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5876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~5.6s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2627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V1 P95 Latency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749039"/>
            <a:ext cx="283464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85876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~7.4s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V1 P99 TTFB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749039"/>
            <a:ext cx="283464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85876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~5.1s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2627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P95 Latency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3749039"/>
            <a:ext cx="2834640" cy="11887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19" y="385876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~5.0s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52627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P99 TTFB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V1 SR: 96.8% (min 93.918% / max 98.982%)   │   V2 SR: 94.8% (min 88.525% / max 100.0%)   │   Per-Region: 96.5% (min 83.14% / max 98.8%)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</a:defRPr>
            </a:pPr>
            <a:r>
              <a:t>V1 P95: 5–6s (max 8.4s)   │   V2 P95: 4–7s (max 17.7s)   │   V1 P99: 6–8s typ, spikes to 109.3s   │   V2 P99: 4–6s (max 17.7s)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NG handles 98.6% of all traffic (91,371 NG vs 1,319 V2) — migration is effectively complete.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Request Volume &amp; Regional Distribution</a:t>
            </a:r>
          </a:p>
        </p:txBody>
      </p:sp>
      <p:pic>
        <p:nvPicPr>
          <p:cNvPr id="3" name="Picture 2" descr="chart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046720" cy="3840480"/>
          </a:xfrm>
          <a:prstGeom prst="rect">
            <a:avLst/>
          </a:prstGeom>
        </p:spPr>
      </p:pic>
      <p:pic>
        <p:nvPicPr>
          <p:cNvPr id="4" name="Picture 3" descr="chart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22960"/>
            <a:ext cx="338328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35661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91,371 total requests (30d)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~3,600 avg daily (weekdays)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~1,400 avg daily (weekends)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East US 2 carries 83% of load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Lighter bars = weekend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User Adoption, Retention &amp; AskAI Reach</a:t>
            </a:r>
          </a:p>
        </p:txBody>
      </p:sp>
      <p:pic>
        <p:nvPicPr>
          <p:cNvPr id="3" name="Picture 2" descr="chart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852160" cy="2743200"/>
          </a:xfrm>
          <a:prstGeom prst="rect">
            <a:avLst/>
          </a:prstGeom>
        </p:spPr>
      </p:pic>
      <p:pic>
        <p:nvPicPr>
          <p:cNvPr id="4" name="Picture 3" descr="chart_re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77240"/>
            <a:ext cx="585216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6576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📊 User Highlights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15,453 unique users (30d)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~700 DAU (weekdays) / ~235 (weekends)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Peak: 799 users (Mar 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6576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🔄 Retention Highlights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1,292 returning users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Weekday avg: 8.0% returning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Trend: 0% → ~10% over 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36576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🌐 AskAI Reach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118,082 total AskAI users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16,239 use Hephaestus NG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• 13.75% of AskAI users on 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Returning % = repeat visitors within 30-day window.  ‘New’ = first appearance in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NG users are 13.75% of 118,082 total AskAI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SLO Performance</a:t>
            </a:r>
          </a:p>
        </p:txBody>
      </p:sp>
      <p:pic>
        <p:nvPicPr>
          <p:cNvPr id="3" name="Picture 2" descr="chart_v1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852160" cy="2743200"/>
          </a:xfrm>
          <a:prstGeom prst="rect">
            <a:avLst/>
          </a:prstGeom>
        </p:spPr>
      </p:pic>
      <p:pic>
        <p:nvPicPr>
          <p:cNvPr id="4" name="Picture 3" descr="chart_v2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77240"/>
            <a:ext cx="585216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6576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V1 Success Rate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✅ Average: 96.8%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Min: 93.918%  |  Max: 98.982%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31 days (Mar 13–Apr 12)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Consistently above 95% SLO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36576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V2 Success Rate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⚠️  Average: 94.8%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Min: 88.525%  |  Max: 100.0%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28 days (Mar 16–Apr 12)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    More volatile; dips below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6576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Latency Summary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V1 P95: 5–6s  |  V2 P95: 4–7s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V1 P99: 6–8s  |  V2 P99: 4–6s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V1 P99 spikes to ~109.3s (cold-start)</a:t>
            </a:r>
          </a:p>
          <a:p>
            <a:pPr algn="l">
              <a:defRPr sz="1000">
                <a:solidFill>
                  <a:srgbClr val="333333"/>
                </a:solidFill>
              </a:defRPr>
            </a:pPr>
            <a:r>
              <a:t>V2 no extreme spikes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</a:defRPr>
            </a:pPr>
            <a:r>
              <a:t>V1 tile: 2e6b6b6c  |  V2 tile: dce01fdf  |  Region tile: bd391155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760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</a:defRPr>
            </a:pPr>
            <a:r>
              <a:t>Per-region weighted avg: 96.5% (83% EUS2 + 17% SC). Region chart in Word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V2 → NG Migration Status</a:t>
            </a:r>
          </a:p>
        </p:txBody>
      </p:sp>
      <p:pic>
        <p:nvPicPr>
          <p:cNvPr id="3" name="Picture 2" descr="chart_v2_vs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41148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8229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Migration Summary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NG Requests (30d):  91,371   (98.6%)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V2 Requests (30d):  1,319     (1.4%)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V2 traffic is sporadic &amp; declining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Several days with zero V2 requests (Mar 24–Apr 1)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• Migration to NG is effectively complete</a:t>
            </a:r>
          </a:p>
          <a:p>
            <a:pPr algn="l">
              <a:defRPr sz="1100">
                <a:solidFill>
                  <a:srgbClr val="333333"/>
                </a:solidFill>
              </a:defRPr>
            </a:pPr>
          </a:p>
          <a:p>
            <a:pPr algn="l">
              <a:defRPr sz="1100">
                <a:solidFill>
                  <a:srgbClr val="333333"/>
                </a:solidFill>
              </a:defRPr>
            </a:pPr>
            <a:r>
              <a:t>V2 Daily Breakdown: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4114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  Mar 16: 72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17: 69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18: 61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19: 53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20: 79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21: 9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22: 3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Mar 23: 21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02: 232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03: 230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04: 125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05: 104</a:t>
            </a:r>
          </a:p>
          <a:p>
            <a:pPr algn="l">
              <a:defRPr sz="900">
                <a:solidFill>
                  <a:srgbClr val="333333"/>
                </a:solidFill>
              </a:defRPr>
            </a:pPr>
            <a:r>
              <a:t>  Apr 06: 261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4114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99999"/>
                </a:solidFill>
              </a:defRPr>
            </a:pPr>
            <a:r>
              <a:t>Data Source: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Traces table query filtering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message contains</a:t>
            </a:r>
          </a:p>
          <a:p>
            <a:pPr algn="l">
              <a:defRPr sz="900">
                <a:solidFill>
                  <a:srgbClr val="999999"/>
                </a:solidFill>
              </a:defRPr>
            </a:pPr>
            <a:r>
              <a:t>"Running for AgentId=triage"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📈  Strong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91,371 requests from 15,453 unique users in 30 days. ~700 weekday DAU. 13.75% of all AskAI users (16,239 / 118,082).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29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🔄  Growing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Returning users grew from 0% to ~10% over 30 days (weekday avg 8.0%). 1,292 repeat users demonstrate increasing stickiness.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712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✅  V1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729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V1 avg 96.8% success rate (min 93.918% / max 98.982%). P95: 5–6s. P99: 6–8s with cold-start spikes.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12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⚠️  V2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V2 avg 94.8% success rate (min 88.525% / max 100.0%). More volatile with occasional dips below 90%.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537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🌍  Multi-Region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554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83% East US 2, 17% Sweden Central — healthy geo-distribution with both regions fully operational.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</a:defRPr>
            </a:pPr>
            <a:r>
              <a:t>🔄  V2 → NG Migration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96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V2 traffic: 1,319 (1.4%) vs NG: 91,371 (98.6%). Multiple days with zero V2 requests. Migration effectively done.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Appendix: Dashboard Links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Live Dashboard (Azure Data Explorer):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Individual Tile Links: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NG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https://dataexplorer.azure.com/dashboards/4584380f-1dcf-43ff-b174-beb56a9a51ea?p-_startTime=30days&amp;p-_endTime=now&amp;p-_env=v-eastus2&amp;p-_env=v-swedencentral&amp;tile=400a95ab-6ff8-4bd4-bbae-18898d1a54a0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V2 Requests (Triage)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803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https://dataexplorer.azure.com/dashboards/4584380f-1dcf-43ff-b174-beb56a9a51ea?p-_startTime=30days&amp;p-_endTime=now&amp;p-_env=v-eastus2&amp;p-_env=v-swedencentral&amp;tile=d24ef970-b3cd-4383-9e17-6ec5099ab134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V1 P95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https://dataexplorer.azure.com/dashboards/4584380f-1dcf-43ff-b174-beb56a9a51ea?p-_startTime=30days&amp;p-_endTime=now&amp;p-_env=v-eastus2&amp;p-_env=v-swedencentral&amp;tile=5bf7b1d4-63e0-4af6-8f26-7d0f4297412a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V1 P99 TTFB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204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https://dataexplorer.azure.com/dashboards/4584380f-1dcf-43ff-b174-beb56a9a51ea?p-_startTime=30days&amp;p-_endTime=now&amp;p-_env=v-eastus2&amp;p-_env=v-swedencentral&amp;tile=c1c9cc13-1713-43b4-b0ed-36d94d192c0c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V2 P99 TTFB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https://dataexplorer.azure.com/dashboards/4584380f-1dcf-43ff-b174-beb56a9a51ea?p-_startTime=30days&amp;p-_endTime=now&amp;p-_env=v-eastus2&amp;p-_env=v-swedencentral&amp;tile=fac37981-da6c-4d16-bba0-a625a4939fc9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V2 P95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https://dataexplorer.azure.com/dashboards/4584380f-1dcf-43ff-b174-beb56a9a51ea?p-_startTime=30days&amp;p-_endTime=now&amp;p-_env=v-eastus2&amp;p-_env=v-swedencentral&amp;tile=abcd56e7-4390-4c2d-8931-24a3346232d3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(Overall)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8055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https://dataexplorer.azure.com/dashboards/4584380f-1dcf-43ff-b174-beb56a9a51ea?p-_startTime=30days&amp;p-_endTime=now&amp;p-_env=v-eastus2&amp;p-_env=v-swedencentral&amp;tile=20253c74-5866-4fa1-bf3c-d62c65ab710e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59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(Daily)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0059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https://dataexplorer.azure.com/dashboards/4584380f-1dcf-43ff-b174-beb56a9a51ea?p-_startTime=30days&amp;p-_endTime=now&amp;p-_env=v-eastus2&amp;p-_env=v-swedencentral&amp;tile=2e6b6b6c-dafc-41ed-9113-70f243c8dece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3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Success Rate (Region)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12063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https://dataexplorer.azure.com/dashboards/4584380f-1dcf-43ff-b174-beb56a9a51ea?p-_startTime=30days&amp;p-_endTime=now&amp;p-_env=v-eastus2&amp;p-_env=v-swedencentral&amp;tile=bd391155-bdda-44f0-9195-b4d47e382277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7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V1 Success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44067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https://dataexplorer.azure.com/dashboards/4584380f-1dcf-43ff-b174-beb56a9a51ea?p-_startTime=30days&amp;p-_endTime=now&amp;p-_env=v-eastus2&amp;p-_env=v-swedencentral&amp;tile=2e6b6b6c-dafc-41ed-9113-70f243c8dece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1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📊  V2 Success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76071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https://dataexplorer.azure.com/dashboards/4584380f-1dcf-43ff-b174-beb56a9a51ea?p-_startTime=30days&amp;p-_endTime=now&amp;p-_env=v-eastus2&amp;p-_env=v-swedencentral&amp;tile=dce01fdf-308a-4d63-8438-9d3745a065c0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Methodology Notes: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CCCCCC"/>
                </a:solidFill>
              </a:defRPr>
            </a:pPr>
            <a:r>
              <a:t>• NG data: UnionOfAllLogs("Vienna", "requests") — app == "hephaestus-agent"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V2 data: UnionOfAllLogs("Vienna", "traces") — message contains "AgentId=triage"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Regions: eastus2, swedencentral  |  Period: 30 days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Success rate: Per-region data from tile bd391155, weighted 83% EUS2 + 17% SC</a:t>
            </a:r>
          </a:p>
          <a:p>
            <a:pPr algn="l">
              <a:defRPr sz="1000">
                <a:solidFill>
                  <a:srgbClr val="CCCCCC"/>
                </a:solidFill>
              </a:defRPr>
            </a:pPr>
            <a:r>
              <a:t>• Full KQL queries available in companion Word document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Appendix: Analysis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</a:defRPr>
            </a:pPr>
            <a:r>
              <a:t>✅  User Retention (Resolved)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Returning users grew from 0% to ~10%. Weekday avg: 8.0%. See Slide 4 for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</a:defRPr>
            </a:pPr>
            <a:r>
              <a:t>✅  % of NG Users in AskAI (Resolved)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Total AskAI Users: 118,082  |  Hephaestus NG Users: 16,239  |  NG as % of AskAI: 13.75%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</a:defRPr>
            </a:pPr>
            <a:r>
              <a:t>✅  All planned analyses are now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